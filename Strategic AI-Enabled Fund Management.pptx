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E90C6D-4108-4E61-B811-A8C9E211B8BA}">
  <a:tblStyle styleId="{70E90C6D-4108-4E61-B811-A8C9E211B8B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SemiBold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55469" y="1726852"/>
            <a:ext cx="848106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Strategic AI-Enabled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Fund Management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57400" y="3936652"/>
            <a:ext cx="8077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Optimizing Expenditure, Forecasting, and Future Growth via Artificial Intelligence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57400" y="4683323"/>
            <a:ext cx="807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Lato"/>
                <a:ea typeface="Lato"/>
                <a:cs typeface="Lato"/>
                <a:sym typeface="Lato"/>
              </a:rPr>
              <a:t>OFFICE OF THE DIRECTOR OF FINANCE (DF) • BEL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73522"/>
            <a:ext cx="11049000" cy="5263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50" y="5464522"/>
            <a:ext cx="994410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14375" y="321022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Summary &amp; Financial Snapshot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321022"/>
            <a:ext cx="57150" cy="57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4154"/>
            <a:ext cx="5286375" cy="3722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44154"/>
            <a:ext cx="5286375" cy="37221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62025" y="2472779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Traditional Management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015704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Conventional budgeting often leads to trapped capital or underfunded critical services due to rigid allocation cycles and manual tracking methodologies.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2472779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AI-Enabled Framework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24650" y="3015704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Intelligent routing of funds ensures we utilize capital in a "better way" to maximize the impact of every rupee deployed.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247775" y="3981450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Static, siloed fund allocation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247775" y="4446240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Manual expenditure tracking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247775" y="4911030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Reactive gap analysis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010400" y="3981450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Dynamic, data-driven fund shifting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010400" y="4446240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tracking of Infrastructure &amp; Capital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010400" y="4911030"/>
            <a:ext cx="42195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Zero omission of critical claims and services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Need for AI in Fund Utilization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9814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44624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91103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9814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44624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911030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57250" y="2000250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Rework &amp; Repair: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AI models deploy predictive maintenance and automated quality control protocols to drastically reduce costly rework cycles.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7250" y="3013620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Daily Expenditures: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Real-time auditing of routine expenses eliminates operational bloat and identifies immediate cost-saving opportunities.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7250" y="4026991"/>
            <a:ext cx="50006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Service Optimization: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By streamlining OPEX, we guarantee that the maximum number of daily services are funded without disruption.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7250" y="5040362"/>
            <a:ext cx="50006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Strategic Goal: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Releasing trapped operational capital to fund critical strategic initiatives and next-generation engineering tasks.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Optimizing Operational Expenditure (OPEX)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002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136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26991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4036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1333500" y="617636"/>
            <a:ext cx="9525000" cy="1426666"/>
          </a:xfrm>
          <a:prstGeom prst="roundRect">
            <a:avLst>
              <a:gd fmla="val 534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2095500" y="855761"/>
            <a:ext cx="8477250" cy="950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TA / DA (Travel &amp; Dearness Allowance)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AI-driven trend analysis optimizes travel budgets, predicting high-cost variables and recommending efficient geographic deployments.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1333500" y="2330053"/>
            <a:ext cx="9525000" cy="1426666"/>
          </a:xfrm>
          <a:prstGeom prst="roundRect">
            <a:avLst>
              <a:gd fmla="val 534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2095500" y="2568178"/>
            <a:ext cx="8477250" cy="950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Health &amp; Welfare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Forecasting employee medical claim expenditures accurately to ensure comprehensive health coverage without compromising cash flow.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333500" y="4042469"/>
            <a:ext cx="9525000" cy="1426666"/>
          </a:xfrm>
          <a:prstGeom prst="roundRect">
            <a:avLst>
              <a:gd fmla="val 534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2095500" y="4280594"/>
            <a:ext cx="8477250" cy="950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Core Project Funding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Ensuring automated, milestone-based liquidity for ongoing enterprise projects, preventing costly delays due to fund starvation.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1333500" y="5754885"/>
            <a:ext cx="9525000" cy="1152376"/>
          </a:xfrm>
          <a:prstGeom prst="roundRect">
            <a:avLst>
              <a:gd fmla="val 661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2095500" y="5993010"/>
            <a:ext cx="8477250" cy="676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R&amp;D Segregation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Ring-fencing vital Research and Development funds from daily OPEX to protect long-term innovation mandates.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1333500" y="2034778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1333500" y="3747194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333500" y="545961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333500" y="689773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150" y="855761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1150" y="2568178"/>
            <a:ext cx="304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1150" y="4280594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81150" y="5993010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14375" y="-334863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Employee Welfare &amp; Project Allocation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-334863"/>
            <a:ext cx="57150" cy="57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00311"/>
            <a:ext cx="11049000" cy="5210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3950" y="5437882"/>
            <a:ext cx="9944100" cy="92958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14375" y="347811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R&amp;D and Future Business Potential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347811"/>
            <a:ext cx="57150" cy="57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714375" y="571500"/>
            <a:ext cx="54006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AI Dashboard: Command &amp; Control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57150" cy="11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24622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Centralized Visibility: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unified AI-Dashboard designed specifically for the finance leadership, offering macro and micro views of enterprise-wide capital.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36147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Dynamic Shifting: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Automated monitoring enables agile "shifting of funds" between departments based on real-time needs and burn rates.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476726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Proactive Action: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Moving away from reactive, post-mortem auditing toward proactive financial steering and predictive interventions.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62425"/>
            <a:ext cx="11049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87004"/>
            <a:ext cx="2541240" cy="18229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7419" y="4572000"/>
            <a:ext cx="2541240" cy="18229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3339" y="1987004"/>
            <a:ext cx="2541240" cy="18229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79259" y="4572000"/>
            <a:ext cx="2541240" cy="182299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17995" y="2187029"/>
            <a:ext cx="22482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 Months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771525" y="2644229"/>
            <a:ext cx="214119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Tactical tracking of daily expenditures and immediate OPEX adjustments.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3553915" y="4772025"/>
            <a:ext cx="22482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 Months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3607444" y="5229225"/>
            <a:ext cx="214119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Re-allocation of surplus funds and mid-year capital project reviews.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389835" y="2187029"/>
            <a:ext cx="22482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9 Months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443364" y="2644229"/>
            <a:ext cx="214119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Strategic realignment of R&amp;D investments and milestone assessments.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9225755" y="4772025"/>
            <a:ext cx="22482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12 Months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279284" y="5229225"/>
            <a:ext cx="214119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Year-end target achievement, ensuring zero unspent critical capital.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1708770" y="405765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4544690" y="405765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7380609" y="405765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0216529" y="4057650"/>
            <a:ext cx="266700" cy="26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Agile Forecasting Model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8852"/>
            <a:ext cx="11049000" cy="283264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/>
          <p:nvPr/>
        </p:nvSpPr>
        <p:spPr>
          <a:xfrm>
            <a:off x="571500" y="2488852"/>
            <a:ext cx="11049000" cy="283264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21"/>
          <p:cNvGraphicFramePr/>
          <p:nvPr/>
        </p:nvGraphicFramePr>
        <p:xfrm>
          <a:off x="571500" y="24888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{70E90C6D-4108-4E61-B811-A8C9E211B8BA}</a:tableStyleId>
              </a:tblPr>
              <a:tblGrid>
                <a:gridCol w="1183775"/>
                <a:gridCol w="3005000"/>
                <a:gridCol w="6860225"/>
              </a:tblGrid>
              <a:tr h="70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Phase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Strategic 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AI Capability Deployed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0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Year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Foundation &amp; OPEX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Deployment of the central AI Dashboard for daily expenditure tracking.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Year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Advanced Allocation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Predictive R&amp;D funding and dynamic shifting of intra-department capital.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0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Year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Autonomous Forecasting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Fully autonomous ML forecasting aligned directly with market business potential.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21"/>
          <p:cNvSpPr/>
          <p:nvPr/>
        </p:nvSpPr>
        <p:spPr>
          <a:xfrm>
            <a:off x="571500" y="3207990"/>
            <a:ext cx="11837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1755278" y="3207990"/>
            <a:ext cx="30049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760267" y="3207990"/>
            <a:ext cx="6860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571500" y="3910905"/>
            <a:ext cx="11837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755278" y="3910905"/>
            <a:ext cx="30049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760267" y="3910905"/>
            <a:ext cx="6860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571500" y="4613820"/>
            <a:ext cx="11837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1755278" y="4613820"/>
            <a:ext cx="30049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760267" y="4613820"/>
            <a:ext cx="6860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Next 3-Year Budget Plan Implementation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1159371"/>
            <a:ext cx="7620000" cy="453925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2695575" y="1788021"/>
            <a:ext cx="68008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Securing the Future of BEL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2857500" y="3521571"/>
            <a:ext cx="647700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AI is the definitive key to unlocking superior fund utilization. By transitioning to intelligent forecasting and dynamic shifting, we empower the organization to meet its financial and operational mandates with next-generation technological efficiency.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571500" y="263381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71500" y="341858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71500" y="34090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1500" y="34090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571500" y="43919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571500" y="43919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32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1666875" y="277668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https://www.biworldwide.com/uk/wp-content/uploads/sites/16/2025/09/New-homepage-hero-template-file-1728x1080px-3.png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666875" y="302240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www.biworldwide.com</a:t>
            </a:r>
            <a:endParaRPr/>
          </a:p>
        </p:txBody>
      </p:sp>
      <p:pic>
        <p:nvPicPr>
          <p:cNvPr descr="image.png" id="247" name="Google Shape;24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1666875" y="356145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https://png.pngtree.com/thumb_back/fw800/background/20260128/pngtree-futuristic-digital-dashboard-displaying-various-data-analytics-charts-and-graphs-with-image_21236983.webp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1666875" y="400526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250" name="Google Shape;25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508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1666875" y="454431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https://bricolagebombay.com/wp-content/uploads/2024/10/14-1.webp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666875" y="47900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bricolagebombay.com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